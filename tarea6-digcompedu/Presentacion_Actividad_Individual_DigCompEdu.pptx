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Actividad Individual – DigCompEdu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Taller 23: GoRoutines / Mutex / Mutual Exclusion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Análisis del flujo HTTP, cuestionario de conceptos y propuesta de ampliación</a:t>
            </a:r>
          </a:p>
          <a:p>
            <a:pPr>
              <a:spcAft>
                <a:spcPts val="800"/>
              </a:spcAft>
              <a:defRPr sz="2200"/>
            </a:pPr>
            <a:r>
              <a:t>Proyecto base: digcompedu-api-v1</a:t>
            </a:r>
          </a:p>
          <a:p>
            <a:pPr>
              <a:spcAft>
                <a:spcPts val="800"/>
              </a:spcAft>
              <a:defRPr sz="2200"/>
            </a:pPr>
            <a:r>
              <a:t>Estudiante: José Tumbaco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1. ¿Qué analiza el proyecto?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API en Go para evaluación formativa de competencias digitales docentes.</a:t>
            </a:r>
          </a:p>
          <a:p>
            <a:pPr>
              <a:spcAft>
                <a:spcPts val="800"/>
              </a:spcAft>
              <a:defRPr sz="1900"/>
            </a:pPr>
            <a:r>
              <a:t>El sistema analiza una actividad docente mediante un LLM.</a:t>
            </a:r>
          </a:p>
          <a:p>
            <a:pPr>
              <a:spcAft>
                <a:spcPts val="800"/>
              </a:spcAft>
              <a:defRPr sz="1900"/>
            </a:pPr>
            <a:r>
              <a:t>Evalúa 3 áreas: recursos digitales, evaluación y empoderamiento del estudiante.</a:t>
            </a:r>
          </a:p>
          <a:p>
            <a:pPr>
              <a:spcAft>
                <a:spcPts val="800"/>
              </a:spcAft>
              <a:defRPr sz="1900"/>
            </a:pPr>
            <a:r>
              <a:t>Cada área recibe un nivel de 1 (Inicial) a 4 (Experto), con justificación y sugerencia.</a:t>
            </a:r>
          </a:p>
          <a:p>
            <a:pPr>
              <a:spcAft>
                <a:spcPts val="800"/>
              </a:spcAft>
              <a:defRPr sz="1900"/>
            </a:pPr>
            <a:r>
              <a:t>El resultado se guarda en SQLite y se devuelve al frontend como JSON.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2. Mapa conceptual del proyecto</a:t>
            </a:r>
          </a:p>
        </p:txBody>
      </p:sp>
      <p:pic>
        <p:nvPicPr>
          <p:cNvPr id="3" name="Picture 2" descr="mapa_concept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43000"/>
            <a:ext cx="10972800" cy="636535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3. Petición HTTP: del clic a la respuesta</a:t>
            </a:r>
          </a:p>
        </p:txBody>
      </p:sp>
      <p:pic>
        <p:nvPicPr>
          <p:cNvPr id="3" name="Picture 2" descr="diagrama_flujo_htt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51560"/>
            <a:ext cx="11155680" cy="64662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4. Archivos y funciones clave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Frontend: web/app.js → submit → fetch() → renderizarResultado().</a:t>
            </a:r>
          </a:p>
          <a:p>
            <a:pPr>
              <a:spcAft>
                <a:spcPts val="800"/>
              </a:spcAft>
              <a:defRPr sz="1600"/>
            </a:pPr>
            <a:r>
              <a:t>API: internal/api/router.go → rutas; handlers.go → CrearDocente(), EvaluarActividad(), respondJSON().</a:t>
            </a:r>
          </a:p>
          <a:p>
            <a:pPr>
              <a:spcAft>
                <a:spcPts val="800"/>
              </a:spcAft>
              <a:defRPr sz="1600"/>
            </a:pPr>
            <a:r>
              <a:t>Evaluación: internal/evaluator/service.go → EvaluarActividad(); parser.go → parsearRespuestaLLM().</a:t>
            </a:r>
          </a:p>
          <a:p>
            <a:pPr>
              <a:spcAft>
                <a:spcPts val="800"/>
              </a:spcAft>
              <a:defRPr sz="1600"/>
            </a:pPr>
            <a:r>
              <a:t>LLM: internal/llm/prompt.go → ConstruirPrompt(); groq_client.go → Analizar().</a:t>
            </a:r>
          </a:p>
          <a:p>
            <a:pPr>
              <a:spcAft>
                <a:spcPts val="800"/>
              </a:spcAft>
              <a:defRPr sz="1600"/>
            </a:pPr>
            <a:r>
              <a:t>Persistencia: internal/storage/sqlite.go → Guardar(), ObtenerPorTeacher(), MetricasPorArea().</a:t>
            </a:r>
          </a:p>
          <a:p>
            <a:pPr>
              <a:spcAft>
                <a:spcPts val="800"/>
              </a:spcAft>
              <a:defRPr sz="1600"/>
            </a:pPr>
            <a:r>
              <a:t>Dominio: internal/domain → Teacher, Evaluation, MatrizResultado, AreaResultado, Area y Nivel.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5. Cuestionario – paquetes y conceptos (1/2)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143000"/>
          <a:ext cx="1078992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5852160"/>
                <a:gridCol w="914400"/>
              </a:tblGrid>
              <a:tr h="868680">
                <a:tc>
                  <a:txBody>
                    <a:bodyPr/>
                    <a:lstStyle/>
                    <a:p>
                      <a:r>
                        <a:rPr sz="900"/>
                        <a:t>Librería / Paquete (Import)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¿Lo hemos visto en clase?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¿Cuál es su propósito AQUÍ?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Confianza (1-5)</a:t>
                      </a:r>
                    </a:p>
                  </a:txBody>
                  <a:tcPr/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900"/>
                        <a:t>net/http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Sí / relacionado con el proyecto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Servidor HTTP, rutas, handlers y llamadas HTTP al proveedor LLM.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4</a:t>
                      </a:r>
                    </a:p>
                  </a:txBody>
                  <a:tcPr/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900"/>
                        <a:t>html/template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No consta; además no aparece importado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No se utiliza en este proyecto. El frontend se sirve como archivos estáticos mediante embed.FS y http.FileServerFS.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</a:t>
                      </a:r>
                    </a:p>
                  </a:txBody>
                  <a:tcPr/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900"/>
                        <a:t>database/sql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No consta en el material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Abstracción de acceso SQL; se usa para abrir SQLite, ejecutar consultas, transacciones y leer resultados.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</a:t>
                      </a:r>
                    </a:p>
                  </a:txBody>
                  <a:tcPr/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900"/>
                        <a:t>context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No consta en el material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Propaga cancelación, límites de tiempo y contexto de la petición entre handler, servicio, LLM y repositorio.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3</a:t>
                      </a:r>
                    </a:p>
                  </a:txBody>
                  <a:tcPr/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900"/>
                        <a:t>encoding/json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Sí / relacionado con el proyecto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Codifica y decodifica JSON entre frontend/API y también interpreta la respuesta JSON del LLM.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6. Cuestionario – conceptos de Go (2/2)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143000"/>
          <a:ext cx="1078992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5852160"/>
                <a:gridCol w="914400"/>
              </a:tblGrid>
              <a:tr h="868680">
                <a:tc>
                  <a:txBody>
                    <a:bodyPr/>
                    <a:lstStyle/>
                    <a:p>
                      <a:r>
                        <a:rPr sz="900"/>
                        <a:t>Librería / Paquete (Import)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¿Lo hemos visto en clase?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¿Cuál es su propósito AQUÍ?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Confianza (1-5)</a:t>
                      </a:r>
                    </a:p>
                  </a:txBody>
                  <a:tcPr/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900"/>
                        <a:t>struct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Sí, como concepto de 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Agrupa datos relacionados. Aparece en Teacher, Evaluation, MatrizResultado, requests, responses y clientes.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5</a:t>
                      </a:r>
                    </a:p>
                  </a:txBody>
                  <a:tcPr/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900"/>
                        <a:t>collections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Sí, como concepto general; no es un import 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El proyecto usa slices y maps para listas, resultados por área, niveles y métricas.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4</a:t>
                      </a:r>
                    </a:p>
                  </a:txBody>
                  <a:tcPr/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900"/>
                        <a:t>goroutines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Sí, Taller 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Permiten ejecutar funciones concurrentemente. En el servidor se usa una goroutine para ListenAndServe; el Taller 23 trabaja explícitamente goroutines.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5</a:t>
                      </a:r>
                    </a:p>
                  </a:txBody>
                  <a:tcPr/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900"/>
                        <a:t>interfaces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Sí, como concepto de 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LLMProvider y Repository abstraen implementaciones concretas y permiten desacoplar el servicio.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4</a:t>
                      </a:r>
                    </a:p>
                  </a:txBody>
                  <a:tcPr/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900"/>
                        <a:t>(Otro) sync / Mutex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Sí, Taller 23; no es usado en este zip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sync.Mutex es el concepto de exclusión mutua trabajado en Taller 23; en el proyecto DigCompEdu no aparece un Mutex.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7. Tres conceptos que pueden resultar confusos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Interface LLMProvider: abstrae el proveedor de IA; GroqClient implementa Analizar().</a:t>
            </a:r>
          </a:p>
          <a:p>
            <a:pPr>
              <a:spcAft>
                <a:spcPts val="800"/>
              </a:spcAft>
              <a:defRPr sz="2000"/>
            </a:pPr>
            <a:r>
              <a:t>context.Context: acompaña la petición desde el handler hasta el LLM y el repositorio.</a:t>
            </a:r>
          </a:p>
          <a:p>
            <a:pPr>
              <a:spcAft>
                <a:spcPts val="800"/>
              </a:spcAft>
              <a:defRPr sz="2000"/>
            </a:pPr>
            <a:r>
              <a:t>//go:embed + embed.FS: incorpora el frontend dentro del ejecutable y permite servirlo con http.FileServerFS().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8. Ampliación propuesta: nuevo elemento de evaluación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Nuevo indicador: Índice global de competencia digital.</a:t>
            </a:r>
          </a:p>
          <a:p>
            <a:pPr>
              <a:spcAft>
                <a:spcPts val="800"/>
              </a:spcAft>
              <a:defRPr sz="1800"/>
            </a:pPr>
            <a:r>
              <a:t>Se calcula promediando los niveles de las áreas ya evaluadas.</a:t>
            </a:r>
          </a:p>
          <a:p>
            <a:pPr>
              <a:spcAft>
                <a:spcPts val="800"/>
              </a:spcAft>
              <a:defRPr sz="1800"/>
            </a:pPr>
            <a:r>
              <a:t>Rango: 1.00 a 4.00.</a:t>
            </a:r>
          </a:p>
          <a:p>
            <a:pPr>
              <a:spcAft>
                <a:spcPts val="800"/>
              </a:spcAft>
              <a:defRPr sz="1800"/>
            </a:pPr>
            <a:r>
              <a:t>No reemplaza la evaluación original ni constituye una calificación definitiva.</a:t>
            </a:r>
          </a:p>
          <a:p>
            <a:pPr>
              <a:spcAft>
                <a:spcPts val="800"/>
              </a:spcAft>
              <a:defRPr sz="1800"/>
            </a:pPr>
            <a:r>
              <a:t>Función: CalcularIndiceGlobal(resultado domain.MatrizResultado).</a:t>
            </a:r>
          </a:p>
          <a:p>
            <a:pPr>
              <a:spcAft>
                <a:spcPts val="800"/>
              </a:spcAft>
              <a:defRPr sz="1800"/>
            </a:pPr>
            <a:r>
              <a:t>Archivo: extension_evaluacion.go.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698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Consolas"/>
              </a:defRPr>
            </a:pPr>
            <a:r>
              <a:t>func CalcularIndiceGlobal(resultado domain.MatrizResultado) (float64, error) {</a:t>
            </a:r>
            <a:br/>
            <a:r>
              <a:t>    var suma int</a:t>
            </a:r>
            <a:br/>
            <a:r>
              <a:t>    for _, area := range resultado.Resultados {</a:t>
            </a:r>
            <a:br/>
            <a:r>
              <a:t>        suma += int(area.Nivel)</a:t>
            </a:r>
            <a:br/>
            <a:r>
              <a:t>    }</a:t>
            </a:r>
            <a:br/>
            <a:r>
              <a:t>    return float64(suma) / float64(len(resultado.Resultados)), nil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9. Conclusiones para la defensa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El proyecto está organizado por responsabilidades y comunica las capas mediante interfaces.</a:t>
            </a:r>
          </a:p>
          <a:p>
            <a:pPr>
              <a:spcAft>
                <a:spcPts val="800"/>
              </a:spcAft>
              <a:defRPr sz="1800"/>
            </a:pPr>
            <a:r>
              <a:t>La petición HTTP conecta frontend, API, servicio, LLM, parser y persistencia.</a:t>
            </a:r>
          </a:p>
          <a:p>
            <a:pPr>
              <a:spcAft>
                <a:spcPts val="800"/>
              </a:spcAft>
              <a:defRPr sz="1800"/>
            </a:pPr>
            <a:r>
              <a:t>El JSON es el formato de intercambio principal entre frontend, API y LLM.</a:t>
            </a:r>
          </a:p>
          <a:p>
            <a:pPr>
              <a:spcAft>
                <a:spcPts val="800"/>
              </a:spcAft>
              <a:defRPr sz="1800"/>
            </a:pPr>
            <a:r>
              <a:t>El Taller 23 ayuda a comprender concurrencia: goroutines y Mutex; en este proyecto aparece una goroutine para el servidor, pero no un Mutex.</a:t>
            </a:r>
          </a:p>
          <a:p>
            <a:pPr>
              <a:spcAft>
                <a:spcPts val="800"/>
              </a:spcAft>
              <a:defRPr sz="1800"/>
            </a:pPr>
            <a:r>
              <a:t>La ampliación propuesta añade un indicador sencillo reutilizando los tipos del dominio.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10. Fuente y cierre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Fuente principal: archivo proporcionado digcompedu-api-v1.zip.</a:t>
            </a:r>
          </a:p>
          <a:p>
            <a:pPr>
              <a:spcAft>
                <a:spcPts val="800"/>
              </a:spcAft>
              <a:defRPr sz="2000"/>
            </a:pPr>
            <a:r>
              <a:t>Material analizado: código Go, frontend HTML/JavaScript y schema.sql.</a:t>
            </a:r>
          </a:p>
          <a:p>
            <a:pPr>
              <a:spcAft>
                <a:spcPts val="800"/>
              </a:spcAft>
              <a:defRPr sz="2000"/>
            </a:pPr>
            <a:r>
              <a:t>Pregunta para la defensa: ¿por qué LLMProvider es una interfaz y no se llama directamente a GroqClient desde el servicio?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